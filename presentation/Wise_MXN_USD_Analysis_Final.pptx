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2" r:id="rId9"/>
    <p:sldId id="263" r:id="rId10"/>
    <p:sldId id="264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3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66001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9FE87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MXN→USD Route Launch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Analysis &amp; Recommendations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2024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828800" cy="45720"/>
          </a:xfrm>
          <a:prstGeom prst="rect">
            <a:avLst/>
          </a:prstGeom>
          <a:solidFill>
            <a:srgbClr val="9FE87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82296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users drive 62.7% of volume but convert at 18.6% vs 38.2% for Existing users (19.6pp gap)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3774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CAUSE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74320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step (Created→Funded)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New: 34.9%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Existing: 60.9%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26pp gap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383280" y="23774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383280" y="274320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Improving payment from 34.9% to 47.9%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+1,678 transfers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+15.9% volume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309360" y="23774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is viable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Focus: New user payment experience optimization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9FE870"/>
          </a:solidFill>
          <a:ln/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 Estimation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828800" cy="45720"/>
          </a:xfrm>
          <a:prstGeom prst="rect">
            <a:avLst/>
          </a:prstGeom>
          <a:solidFill>
            <a:srgbClr val="9FE87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PRE-LAUNCH METHODOLOGY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3931920" cy="20116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40080" y="163843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Top-Down Market Sizing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983728"/>
            <a:ext cx="3566160" cy="15336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TAM: </a:t>
            </a:r>
            <a:r>
              <a:rPr lang="en-US" sz="13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$60B Mexico→US corridor
</a:t>
            </a:r>
            <a:endParaRPr lang="en-US" sz="13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SAM: </a:t>
            </a:r>
            <a:r>
              <a:rPr lang="en-US" sz="13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$6.6B addressable
</a:t>
            </a:r>
            <a:endParaRPr lang="en-US" sz="13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share: </a:t>
            </a:r>
            <a:r>
              <a:rPr lang="en-US" sz="13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1.5% Year 1</a:t>
            </a:r>
          </a:p>
          <a:p>
            <a:pPr marL="0" indent="0">
              <a:lnSpc>
                <a:spcPts val="1600"/>
              </a:lnSpc>
              <a:buNone/>
            </a:pPr>
            <a:endParaRPr lang="en-US" sz="13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Estimate: </a:t>
            </a:r>
            <a:r>
              <a:rPr lang="en-US" sz="1300" b="1" dirty="0">
                <a:solidFill>
                  <a:srgbClr val="9FE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~$90M TPV Year 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554480"/>
            <a:ext cx="3931920" cy="20116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4937760" y="17373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Bottom-Up Validation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37760" y="1977390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signals (require internal data):</a:t>
            </a:r>
            <a:endParaRPr lang="en-US" sz="13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MXN users blocked from USD</a:t>
            </a:r>
            <a:endParaRPr lang="en-US" sz="13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Reverse-flow patterns</a:t>
            </a:r>
            <a:endParaRPr lang="en-US" sz="13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Existing MXN base</a:t>
            </a:r>
            <a:endParaRPr lang="en-US" sz="13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LatAm route benchmarks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3886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DECISION: PROCEED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9FE870"/>
          </a:solidFill>
          <a:ln/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5"/>
          <p:cNvSpPr/>
          <p:nvPr/>
        </p:nvSpPr>
        <p:spPr>
          <a:xfrm>
            <a:off x="457200" y="2830068"/>
            <a:ext cx="5943600" cy="53035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r>
              <a:rPr lang="en-US" sz="16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Conversion Rate Opportunity</a:t>
            </a:r>
            <a:endParaRPr lang="en-US" sz="1200" dirty="0"/>
          </a:p>
          <a:p>
            <a:r>
              <a:rPr lang="pt-BR" sz="1400" dirty="0" err="1">
                <a:latin typeface="Arial" panose="020B0604020202020204" pitchFamily="34" charset="0"/>
                <a:cs typeface="Arial" panose="020B0604020202020204" pitchFamily="34" charset="0"/>
              </a:rPr>
              <a:t>What's</a:t>
            </a: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400" dirty="0" err="1">
                <a:latin typeface="Arial" panose="020B0604020202020204" pitchFamily="34" charset="0"/>
                <a:cs typeface="Arial" panose="020B0604020202020204" pitchFamily="34" charset="0"/>
              </a:rPr>
              <a:t>driving</a:t>
            </a: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400" dirty="0" err="1">
                <a:latin typeface="Arial" panose="020B0604020202020204" pitchFamily="34" charset="0"/>
                <a:cs typeface="Arial" panose="020B0604020202020204" pitchFamily="34" charset="0"/>
              </a:rPr>
              <a:t>this</a:t>
            </a: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400" dirty="0" err="1">
                <a:latin typeface="Arial" panose="020B0604020202020204" pitchFamily="34" charset="0"/>
                <a:cs typeface="Arial" panose="020B0604020202020204" pitchFamily="34" charset="0"/>
              </a:rPr>
              <a:t>number</a:t>
            </a: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dirty="0"/>
          </a:p>
        </p:txBody>
      </p:sp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2024 Results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828800" cy="45720"/>
          </a:xfrm>
          <a:prstGeom prst="rect">
            <a:avLst/>
          </a:prstGeom>
          <a:solidFill>
            <a:srgbClr val="9FE87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FUNNEL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371600" y="15544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40,223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371600" y="2011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383280" y="16459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114800" y="15544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18,195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114800" y="2011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Funded (45.2%)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126480" y="16459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858000" y="15544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9FE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10,557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858000" y="2011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 (26.2%)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28346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9FE870"/>
          </a:solidFill>
          <a:ln/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43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Answer: New User Conversion Gap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2743200" cy="45720"/>
          </a:xfrm>
          <a:prstGeom prst="rect">
            <a:avLst/>
          </a:prstGeom>
          <a:solidFill>
            <a:srgbClr val="9FE87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931920" cy="2286000"/>
          </a:xfrm>
          <a:prstGeom prst="rect">
            <a:avLst/>
          </a:prstGeom>
          <a:solidFill>
            <a:srgbClr val="FFEBEE"/>
          </a:solidFill>
          <a:ln w="381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Users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18.6%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640080" y="30632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conversion rate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333756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62.7% of volume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463040"/>
            <a:ext cx="3931920" cy="2286000"/>
          </a:xfrm>
          <a:prstGeom prst="rect">
            <a:avLst/>
          </a:prstGeom>
          <a:solidFill>
            <a:srgbClr val="E8F5E9"/>
          </a:solidFill>
          <a:ln w="38100">
            <a:solidFill>
              <a:srgbClr val="9FE87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4937760" y="17373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Users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937760" y="228600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9FE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38.2%</a:t>
            </a:r>
            <a:endParaRPr lang="en-US" sz="6000" dirty="0"/>
          </a:p>
        </p:txBody>
      </p:sp>
      <p:sp>
        <p:nvSpPr>
          <p:cNvPr id="12" name="Text 10"/>
          <p:cNvSpPr/>
          <p:nvPr/>
        </p:nvSpPr>
        <p:spPr>
          <a:xfrm>
            <a:off x="4937760" y="30632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conversion rate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333756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37.3% of volume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0" y="4023360"/>
            <a:ext cx="3657600" cy="594360"/>
          </a:xfrm>
          <a:prstGeom prst="rect">
            <a:avLst/>
          </a:prstGeom>
          <a:solidFill>
            <a:srgbClr val="21212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2926080" y="41605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19.6pp GAP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9FE870"/>
          </a:solidFill>
          <a:ln/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Cause: Payment Step Friction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2743200" cy="45720"/>
          </a:xfrm>
          <a:prstGeom prst="rect">
            <a:avLst/>
          </a:prstGeom>
          <a:solidFill>
            <a:srgbClr val="9FE87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FUNNEL STEP BREAKDOWN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8229600" cy="457200"/>
          </a:xfrm>
          <a:prstGeom prst="rect">
            <a:avLst/>
          </a:prstGeom>
          <a:solidFill>
            <a:srgbClr val="21212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0" y="1645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Users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0" y="1645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Users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406640" y="16459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solidFill>
            <a:srgbClr val="FFEBEE"/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11" name="Text 9"/>
          <p:cNvSpPr/>
          <p:nvPr/>
        </p:nvSpPr>
        <p:spPr>
          <a:xfrm>
            <a:off x="640080" y="21031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Created → Funded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00400" y="2103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34.9%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303520" y="2103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FE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60.9%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406640" y="21031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26pp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640080" y="2560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Funded → Transferred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200400" y="2560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51.0%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303520" y="2560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64.3%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406640" y="25603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13pp</a:t>
            </a:r>
            <a:endParaRPr lang="en-US" sz="1400" dirty="0"/>
          </a:p>
        </p:txBody>
      </p:sp>
      <p:grpSp>
        <p:nvGrpSpPr>
          <p:cNvPr id="24" name="Agrupar 23">
            <a:extLst>
              <a:ext uri="{FF2B5EF4-FFF2-40B4-BE49-F238E27FC236}">
                <a16:creationId xmlns:a16="http://schemas.microsoft.com/office/drawing/2014/main" id="{129878AC-959F-2809-3B99-9F17AADEBA15}"/>
              </a:ext>
            </a:extLst>
          </p:cNvPr>
          <p:cNvGrpSpPr/>
          <p:nvPr/>
        </p:nvGrpSpPr>
        <p:grpSpPr>
          <a:xfrm>
            <a:off x="457200" y="3817620"/>
            <a:ext cx="8229600" cy="822960"/>
            <a:chOff x="457200" y="3589020"/>
            <a:chExt cx="8229600" cy="822960"/>
          </a:xfrm>
        </p:grpSpPr>
        <p:sp>
          <p:nvSpPr>
            <p:cNvPr id="20" name="Shape 18"/>
            <p:cNvSpPr/>
            <p:nvPr/>
          </p:nvSpPr>
          <p:spPr>
            <a:xfrm>
              <a:off x="457200" y="3589020"/>
              <a:ext cx="8229600" cy="822960"/>
            </a:xfrm>
            <a:prstGeom prst="rect">
              <a:avLst/>
            </a:prstGeom>
            <a:solidFill>
              <a:srgbClr val="9FE870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21" name="Text 19"/>
            <p:cNvSpPr/>
            <p:nvPr/>
          </p:nvSpPr>
          <p:spPr>
            <a:xfrm>
              <a:off x="640080" y="3703320"/>
              <a:ext cx="786384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BOTTLENECK IDENTIFIED</a:t>
              </a:r>
              <a:endParaRPr lang="en-US" sz="1400" dirty="0"/>
            </a:p>
          </p:txBody>
        </p:sp>
        <p:sp>
          <p:nvSpPr>
            <p:cNvPr id="22" name="Text 20"/>
            <p:cNvSpPr/>
            <p:nvPr/>
          </p:nvSpPr>
          <p:spPr>
            <a:xfrm>
              <a:off x="640080" y="3977640"/>
              <a:ext cx="786384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Payment step has 2x larger gap than payout step. This is where New users drop off.</a:t>
              </a:r>
              <a:endParaRPr lang="en-US" sz="1400" dirty="0"/>
            </a:p>
          </p:txBody>
        </p:sp>
      </p:grpSp>
      <p:sp>
        <p:nvSpPr>
          <p:cNvPr id="23" name="Shape 21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9FE870"/>
          </a:solidFill>
          <a:ln/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3600" b="1" dirty="0" err="1">
                <a:solidFill>
                  <a:srgbClr val="4A4A4A"/>
                </a:solidFill>
                <a:latin typeface="Arial" pitchFamily="34" charset="0"/>
                <a:cs typeface="Arial" pitchFamily="34" charset="-120"/>
              </a:rPr>
              <a:t>February</a:t>
            </a:r>
            <a:r>
              <a:rPr lang="pt-BR" sz="3600" dirty="0"/>
              <a:t> </a:t>
            </a:r>
            <a:r>
              <a:rPr lang="pt-BR" sz="3600" b="1" dirty="0">
                <a:solidFill>
                  <a:srgbClr val="4A4A4A"/>
                </a:solidFill>
                <a:latin typeface="Arial" pitchFamily="34" charset="0"/>
                <a:cs typeface="Arial" pitchFamily="34" charset="-120"/>
              </a:rPr>
              <a:t>Performance Decline</a:t>
            </a:r>
            <a:endParaRPr lang="en-US" sz="3600" dirty="0"/>
          </a:p>
        </p:txBody>
      </p:sp>
      <p:pic>
        <p:nvPicPr>
          <p:cNvPr id="5" name="Image 0" descr="/mnt/user-data/outputs/february_decline_analys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769" y="1131660"/>
            <a:ext cx="6592111" cy="234386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45262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FINDING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9FE87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1">
            <a:extLst>
              <a:ext uri="{FF2B5EF4-FFF2-40B4-BE49-F238E27FC236}">
                <a16:creationId xmlns:a16="http://schemas.microsoft.com/office/drawing/2014/main" id="{F816AB94-0D0A-4A73-04F7-5B5ED84E470C}"/>
              </a:ext>
            </a:extLst>
          </p:cNvPr>
          <p:cNvSpPr/>
          <p:nvPr/>
        </p:nvSpPr>
        <p:spPr>
          <a:xfrm>
            <a:off x="457200" y="914400"/>
            <a:ext cx="2743200" cy="45720"/>
          </a:xfrm>
          <a:prstGeom prst="rect">
            <a:avLst/>
          </a:prstGeom>
          <a:solidFill>
            <a:srgbClr val="9FE87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16">
            <a:extLst>
              <a:ext uri="{FF2B5EF4-FFF2-40B4-BE49-F238E27FC236}">
                <a16:creationId xmlns:a16="http://schemas.microsoft.com/office/drawing/2014/main" id="{8FC53582-5B0B-7C52-290E-859749227451}"/>
              </a:ext>
            </a:extLst>
          </p:cNvPr>
          <p:cNvSpPr/>
          <p:nvPr/>
        </p:nvSpPr>
        <p:spPr>
          <a:xfrm>
            <a:off x="448769" y="3585940"/>
            <a:ext cx="8229600" cy="8498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/>
          <a:lstStyle/>
          <a:p>
            <a:r>
              <a:rPr lang="en-US" sz="11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</a:p>
          <a:p>
            <a:endParaRPr lang="en-US" sz="1100" b="1" dirty="0"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latin typeface="Arial" pitchFamily="34" charset="0"/>
                <a:ea typeface="Arial" pitchFamily="34" charset="-122"/>
                <a:cs typeface="Arial" pitchFamily="34" charset="-120"/>
              </a:rPr>
              <a:t>Both New (-1.7pp) and Existing (-2.6pp) segments declined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latin typeface="Arial" pitchFamily="34" charset="0"/>
                <a:ea typeface="Arial" pitchFamily="34" charset="-122"/>
                <a:cs typeface="Arial" pitchFamily="34" charset="-120"/>
              </a:rPr>
              <a:t>Not just mix effect — suggests product or market change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Impact Scenarios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2286000" cy="45720"/>
          </a:xfrm>
          <a:prstGeom prst="rect">
            <a:avLst/>
          </a:prstGeom>
          <a:solidFill>
            <a:srgbClr val="9FE87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 PAYMENT STEP ONLY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Assumption: Payout step remains constant. Focus on Created→Funded for New users.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8229600" cy="502920"/>
          </a:xfrm>
          <a:prstGeom prst="rect">
            <a:avLst/>
          </a:prstGeom>
          <a:solidFill>
            <a:srgbClr val="21212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640080" y="193852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834640" y="1938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Rate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389120" y="1938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Conv.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0" y="1938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Add'l Transfers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498080" y="193852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331720"/>
            <a:ext cx="8229600" cy="5029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640080" y="244144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Conservative (30%)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834640" y="244144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42.9%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389120" y="244144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21.9%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943600" y="244144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+1,007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498080" y="244144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+9.5%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2834640"/>
            <a:ext cx="8229600" cy="502920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640080" y="294436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Case (50%)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834640" y="294436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48.3%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89120" y="294436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24.6%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943600" y="294436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+1,678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498080" y="294436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FE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+15.9%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3337560"/>
            <a:ext cx="8229600" cy="5029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640080" y="344728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Optimistic (70%)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834640" y="344728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53.6%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389120" y="344728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27.4%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943600" y="344728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+2,350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498080" y="344728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+22.3%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57200" y="3840480"/>
            <a:ext cx="8229600" cy="5029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640080" y="395020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Case (100%)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2834640" y="395020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61.6%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389120" y="395020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31.4%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943600" y="395020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+3,357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498080" y="395020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+31.8%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9FE870"/>
          </a:solidFill>
          <a:ln/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2011680" cy="45720"/>
          </a:xfrm>
          <a:prstGeom prst="rect">
            <a:avLst/>
          </a:prstGeom>
          <a:solidFill>
            <a:srgbClr val="9FE87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105156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365760" cy="36576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40080" y="153619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88720" y="1463040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 New User Payment Experience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88720" y="1828800"/>
            <a:ext cx="7223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Investigate friction: Session replays, user interviews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Test solutions: Simplified UX, trust signals, local payment methods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Target: Improve Created→Funded from 34.9% to 47.9% (+50% gap closure)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514600"/>
            <a:ext cx="8229600" cy="9144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640080" y="2697480"/>
            <a:ext cx="365760" cy="365760"/>
          </a:xfrm>
          <a:prstGeom prst="ellipse">
            <a:avLst/>
          </a:prstGeom>
          <a:solidFill>
            <a:srgbClr val="FFA72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640080" y="277063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88720" y="2697480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Address February Conversion Decline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88720" y="3063240"/>
            <a:ext cx="7223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Review product changes from late Jan/early Feb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Check for seasonal patterns or competitive activity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9FE870"/>
          </a:solidFill>
          <a:ln/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9FE87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457</Words>
  <Application>Microsoft Office PowerPoint</Application>
  <PresentationFormat>Apresentação na tela (16:9)</PresentationFormat>
  <Paragraphs>130</Paragraphs>
  <Slides>10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MXN→USD Route Launch Analysis</dc:title>
  <dc:subject>PptxGenJS Presentation</dc:subject>
  <dc:creator>Product Analyst Case Study</dc:creator>
  <cp:lastModifiedBy>Joseph Cozer</cp:lastModifiedBy>
  <cp:revision>3</cp:revision>
  <dcterms:created xsi:type="dcterms:W3CDTF">2026-02-09T17:10:07Z</dcterms:created>
  <dcterms:modified xsi:type="dcterms:W3CDTF">2026-02-09T17:57:48Z</dcterms:modified>
</cp:coreProperties>
</file>